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4" r:id="rId3"/>
    <p:sldId id="257" r:id="rId4"/>
    <p:sldId id="258" r:id="rId5"/>
    <p:sldId id="259" r:id="rId6"/>
    <p:sldId id="262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27FA8BFD-371B-4394-9F9D-196C5413960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85C99373-1930-459A-B112-BDB129BB8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39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8BFD-371B-4394-9F9D-196C5413960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9373-1930-459A-B112-BDB129BB8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2580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8BFD-371B-4394-9F9D-196C5413960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9373-1930-459A-B112-BDB129BB8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10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8BFD-371B-4394-9F9D-196C5413960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9373-1930-459A-B112-BDB129BB8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644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8BFD-371B-4394-9F9D-196C5413960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9373-1930-459A-B112-BDB129BB8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996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8BFD-371B-4394-9F9D-196C5413960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9373-1930-459A-B112-BDB129BB8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444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8BFD-371B-4394-9F9D-196C5413960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9373-1930-459A-B112-BDB129BB8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44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8BFD-371B-4394-9F9D-196C5413960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9373-1930-459A-B112-BDB129BB8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354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8BFD-371B-4394-9F9D-196C5413960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9373-1930-459A-B112-BDB129BB8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8136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8BFD-371B-4394-9F9D-196C5413960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9373-1930-459A-B112-BDB129BB8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250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8BFD-371B-4394-9F9D-196C5413960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9373-1930-459A-B112-BDB129BB8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94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8BFD-371B-4394-9F9D-196C5413960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9373-1930-459A-B112-BDB129BB8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1957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8BFD-371B-4394-9F9D-196C5413960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9373-1930-459A-B112-BDB129BB8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126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8BFD-371B-4394-9F9D-196C5413960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9373-1930-459A-B112-BDB129BB8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901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8BFD-371B-4394-9F9D-196C5413960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9373-1930-459A-B112-BDB129BB8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074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8BFD-371B-4394-9F9D-196C5413960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9373-1930-459A-B112-BDB129BB8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09856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8BFD-371B-4394-9F9D-196C5413960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9373-1930-459A-B112-BDB129BB8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097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7FA8BFD-371B-4394-9F9D-196C5413960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5C99373-1930-459A-B112-BDB129BB8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8824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5587" y="2057400"/>
            <a:ext cx="8825658" cy="2298031"/>
          </a:xfrm>
        </p:spPr>
        <p:txBody>
          <a:bodyPr/>
          <a:lstStyle/>
          <a:p>
            <a:pPr algn="ctr"/>
            <a:r>
              <a:rPr lang="en-GB" sz="6600" b="1" dirty="0" smtClean="0"/>
              <a:t>FLASHING LED BIKE LIGHTS</a:t>
            </a:r>
            <a:endParaRPr lang="en-GB" sz="6600" b="1" dirty="0"/>
          </a:p>
        </p:txBody>
      </p:sp>
    </p:spTree>
    <p:extLst>
      <p:ext uri="{BB962C8B-B14F-4D97-AF65-F5344CB8AC3E}">
        <p14:creationId xmlns:p14="http://schemas.microsoft.com/office/powerpoint/2010/main" val="3000116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926433"/>
            <a:ext cx="8825658" cy="806116"/>
          </a:xfrm>
        </p:spPr>
        <p:txBody>
          <a:bodyPr/>
          <a:lstStyle/>
          <a:p>
            <a:pPr algn="ctr"/>
            <a:r>
              <a:rPr lang="en-GB" sz="3600" b="1" dirty="0" smtClean="0"/>
              <a:t>OUTLINE</a:t>
            </a:r>
            <a:endParaRPr lang="en-GB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6671" y="2105526"/>
            <a:ext cx="8825658" cy="458002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400" dirty="0" smtClean="0">
                <a:solidFill>
                  <a:schemeClr val="bg1"/>
                </a:solidFill>
              </a:rPr>
              <a:t>Introduction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400" dirty="0" smtClean="0">
                <a:solidFill>
                  <a:schemeClr val="bg1"/>
                </a:solidFill>
              </a:rPr>
              <a:t>Components list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400" smtClean="0">
                <a:solidFill>
                  <a:schemeClr val="bg1"/>
                </a:solidFill>
              </a:rPr>
              <a:t>555 timer </a:t>
            </a:r>
            <a:r>
              <a:rPr lang="en-GB" sz="2400" dirty="0" err="1" smtClean="0">
                <a:solidFill>
                  <a:schemeClr val="bg1"/>
                </a:solidFill>
              </a:rPr>
              <a:t>ic</a:t>
            </a:r>
            <a:endParaRPr lang="en-GB" sz="2400" dirty="0" smtClean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400" dirty="0" smtClean="0">
                <a:solidFill>
                  <a:schemeClr val="bg1"/>
                </a:solidFill>
              </a:rPr>
              <a:t>Circuit connection</a:t>
            </a: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603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890338"/>
            <a:ext cx="8825658" cy="637673"/>
          </a:xfrm>
        </p:spPr>
        <p:txBody>
          <a:bodyPr/>
          <a:lstStyle/>
          <a:p>
            <a:pPr algn="ctr"/>
            <a:r>
              <a:rPr lang="en-GB" sz="3600" b="1" dirty="0" smtClean="0"/>
              <a:t>INTRODUCTION</a:t>
            </a:r>
            <a:endParaRPr lang="en-GB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6671" y="1528012"/>
            <a:ext cx="9529087" cy="5157536"/>
          </a:xfrm>
        </p:spPr>
        <p:txBody>
          <a:bodyPr/>
          <a:lstStyle/>
          <a:p>
            <a:pPr algn="ctr"/>
            <a:endParaRPr lang="en-GB" dirty="0" smtClean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cap="none" dirty="0" smtClean="0">
                <a:solidFill>
                  <a:schemeClr val="bg1"/>
                </a:solidFill>
              </a:rPr>
              <a:t>Light emitting diodes are used as indicator lamps for several electronic devices due to the following features:</a:t>
            </a:r>
          </a:p>
          <a:p>
            <a:r>
              <a:rPr lang="en-GB" sz="2400" cap="none" dirty="0" smtClean="0">
                <a:solidFill>
                  <a:schemeClr val="bg1"/>
                </a:solidFill>
              </a:rPr>
              <a:t>             lower power consumption</a:t>
            </a:r>
          </a:p>
          <a:p>
            <a:r>
              <a:rPr lang="en-GB" sz="2400" cap="none" dirty="0" smtClean="0">
                <a:solidFill>
                  <a:schemeClr val="bg1"/>
                </a:solidFill>
              </a:rPr>
              <a:t>             smaller size</a:t>
            </a:r>
          </a:p>
          <a:p>
            <a:r>
              <a:rPr lang="en-GB" sz="2400" cap="none" dirty="0">
                <a:solidFill>
                  <a:schemeClr val="bg1"/>
                </a:solidFill>
              </a:rPr>
              <a:t> </a:t>
            </a:r>
            <a:r>
              <a:rPr lang="en-GB" sz="2400" cap="none" dirty="0" smtClean="0">
                <a:solidFill>
                  <a:schemeClr val="bg1"/>
                </a:solidFill>
              </a:rPr>
              <a:t>            longer lifetime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cap="none" dirty="0">
                <a:solidFill>
                  <a:schemeClr val="bg1"/>
                </a:solidFill>
              </a:rPr>
              <a:t> </a:t>
            </a:r>
            <a:r>
              <a:rPr lang="en-GB" sz="2400" cap="none" dirty="0" smtClean="0">
                <a:solidFill>
                  <a:schemeClr val="bg1"/>
                </a:solidFill>
              </a:rPr>
              <a:t>In this study, the LED serves as a form of reflector by providing light flashes at regular intervals. Its use as a flashing bike light allows cyclist to be visible to other road users to prevent accidents.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400" cap="non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824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890338"/>
            <a:ext cx="8825658" cy="673768"/>
          </a:xfrm>
        </p:spPr>
        <p:txBody>
          <a:bodyPr/>
          <a:lstStyle/>
          <a:p>
            <a:pPr algn="ctr"/>
            <a:r>
              <a:rPr lang="en-GB" sz="4000" b="1" dirty="0" smtClean="0"/>
              <a:t>LIST OF COMPONENTS</a:t>
            </a:r>
            <a:endParaRPr lang="en-GB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6671" y="1840832"/>
            <a:ext cx="8825658" cy="48447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1 555 timer IC (IC1)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12 LED: D1 to D12: common red </a:t>
            </a:r>
            <a:r>
              <a:rPr lang="en-GB" dirty="0" smtClean="0">
                <a:solidFill>
                  <a:schemeClr val="bg1"/>
                </a:solidFill>
              </a:rPr>
              <a:t>Or white </a:t>
            </a:r>
            <a:r>
              <a:rPr lang="en-GB" dirty="0">
                <a:solidFill>
                  <a:schemeClr val="bg1"/>
                </a:solidFill>
              </a:rPr>
              <a:t>LEDs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1 10K resistor (R1)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1 100K resistor (R2)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12 1K resistors (R3 to R14)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1 10 </a:t>
            </a:r>
            <a:r>
              <a:rPr lang="en-GB" dirty="0" err="1">
                <a:solidFill>
                  <a:schemeClr val="bg1"/>
                </a:solidFill>
              </a:rPr>
              <a:t>uF</a:t>
            </a:r>
            <a:r>
              <a:rPr lang="en-GB" dirty="0">
                <a:solidFill>
                  <a:schemeClr val="bg1"/>
                </a:solidFill>
              </a:rPr>
              <a:t> Electrolytic Capacitor (C1)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1 9 volt battery</a:t>
            </a:r>
          </a:p>
        </p:txBody>
      </p:sp>
    </p:spTree>
    <p:extLst>
      <p:ext uri="{BB962C8B-B14F-4D97-AF65-F5344CB8AC3E}">
        <p14:creationId xmlns:p14="http://schemas.microsoft.com/office/powerpoint/2010/main" val="3513890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890338"/>
            <a:ext cx="8825658" cy="433136"/>
          </a:xfrm>
        </p:spPr>
        <p:txBody>
          <a:bodyPr/>
          <a:lstStyle/>
          <a:p>
            <a:pPr algn="ctr"/>
            <a:r>
              <a:rPr lang="en-GB" sz="4000" b="1" smtClean="0"/>
              <a:t>555 TIMER IC</a:t>
            </a:r>
            <a:endParaRPr lang="en-GB" sz="4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74" y="1600200"/>
            <a:ext cx="4135539" cy="3018733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3137" y="1323475"/>
            <a:ext cx="4439652" cy="5362074"/>
          </a:xfrm>
        </p:spPr>
        <p:txBody>
          <a:bodyPr/>
          <a:lstStyle/>
          <a:p>
            <a:pPr algn="ctr"/>
            <a:r>
              <a:rPr lang="en-GB" dirty="0" smtClean="0">
                <a:solidFill>
                  <a:schemeClr val="bg1"/>
                </a:solidFill>
              </a:rPr>
              <a:t>                      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72789" y="1600200"/>
            <a:ext cx="65211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bg1"/>
                </a:solidFill>
              </a:rPr>
              <a:t>The 555 timer IC is usually used in timing circuits</a:t>
            </a: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bg1"/>
                </a:solidFill>
              </a:rPr>
              <a:t>Has three modes of operation based on how its pins are connected:</a:t>
            </a:r>
          </a:p>
          <a:p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smtClean="0">
                <a:solidFill>
                  <a:schemeClr val="bg1"/>
                </a:solidFill>
              </a:rPr>
              <a:t>                -</a:t>
            </a:r>
            <a:r>
              <a:rPr lang="en-GB" dirty="0" err="1" smtClean="0">
                <a:solidFill>
                  <a:schemeClr val="bg1"/>
                </a:solidFill>
              </a:rPr>
              <a:t>bistable</a:t>
            </a:r>
            <a:endParaRPr lang="en-GB" dirty="0" smtClean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smtClean="0">
                <a:solidFill>
                  <a:schemeClr val="bg1"/>
                </a:solidFill>
              </a:rPr>
              <a:t>                -</a:t>
            </a:r>
            <a:r>
              <a:rPr lang="en-GB" dirty="0" err="1" smtClean="0">
                <a:solidFill>
                  <a:schemeClr val="bg1"/>
                </a:solidFill>
              </a:rPr>
              <a:t>monostable</a:t>
            </a:r>
            <a:endParaRPr lang="en-GB" dirty="0" smtClean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smtClean="0">
                <a:solidFill>
                  <a:schemeClr val="bg1"/>
                </a:solidFill>
              </a:rPr>
              <a:t>                -</a:t>
            </a:r>
            <a:r>
              <a:rPr lang="en-GB" dirty="0" err="1" smtClean="0">
                <a:solidFill>
                  <a:schemeClr val="bg1"/>
                </a:solidFill>
              </a:rPr>
              <a:t>astable</a:t>
            </a:r>
            <a:endParaRPr lang="en-GB" dirty="0" smtClean="0">
              <a:solidFill>
                <a:schemeClr val="bg1"/>
              </a:solidFill>
            </a:endParaRPr>
          </a:p>
          <a:p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bg1"/>
                </a:solidFill>
              </a:rPr>
              <a:t>The </a:t>
            </a:r>
            <a:r>
              <a:rPr lang="en-GB" dirty="0" err="1" smtClean="0">
                <a:solidFill>
                  <a:schemeClr val="bg1"/>
                </a:solidFill>
              </a:rPr>
              <a:t>astable</a:t>
            </a:r>
            <a:r>
              <a:rPr lang="en-GB" dirty="0" smtClean="0">
                <a:solidFill>
                  <a:schemeClr val="bg1"/>
                </a:solidFill>
              </a:rPr>
              <a:t> mode of operation is utilised in this project.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 smtClean="0">
              <a:solidFill>
                <a:schemeClr val="bg1"/>
              </a:solidFill>
            </a:endParaRPr>
          </a:p>
          <a:p>
            <a:r>
              <a:rPr lang="en-GB" dirty="0"/>
              <a:t> </a:t>
            </a:r>
            <a:r>
              <a:rPr lang="en-GB" dirty="0" smtClean="0"/>
              <a:t>                                          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637674" y="4789392"/>
            <a:ext cx="107583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bg1"/>
                </a:solidFill>
              </a:rPr>
              <a:t>In this mode of operation, a </a:t>
            </a:r>
            <a:r>
              <a:rPr lang="en-GB" dirty="0" err="1" smtClean="0">
                <a:solidFill>
                  <a:schemeClr val="bg1"/>
                </a:solidFill>
              </a:rPr>
              <a:t>multivibrator</a:t>
            </a:r>
            <a:r>
              <a:rPr lang="en-GB" dirty="0" smtClean="0">
                <a:solidFill>
                  <a:schemeClr val="bg1"/>
                </a:solidFill>
              </a:rPr>
              <a:t> circuit has no stable states i.e. it alternates between two states.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bg1"/>
                </a:solidFill>
              </a:rPr>
              <a:t>Thus the flashing of the two groups of LEDs at regular intervals clearly exhibits the </a:t>
            </a:r>
            <a:r>
              <a:rPr lang="en-GB" dirty="0" err="1" smtClean="0">
                <a:solidFill>
                  <a:schemeClr val="bg1"/>
                </a:solidFill>
              </a:rPr>
              <a:t>astable</a:t>
            </a:r>
            <a:r>
              <a:rPr lang="en-GB" dirty="0" smtClean="0">
                <a:solidFill>
                  <a:schemeClr val="bg1"/>
                </a:solidFill>
              </a:rPr>
              <a:t> mode of operation.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98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685800"/>
            <a:ext cx="8825658" cy="637674"/>
          </a:xfrm>
        </p:spPr>
        <p:txBody>
          <a:bodyPr/>
          <a:lstStyle/>
          <a:p>
            <a:pPr algn="ctr"/>
            <a:r>
              <a:rPr lang="en-GB" sz="2400" b="1" dirty="0" smtClean="0"/>
              <a:t>555 TIMER…….Cont.</a:t>
            </a:r>
            <a:endParaRPr lang="en-GB" sz="2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3137" y="1323475"/>
            <a:ext cx="4439652" cy="5362074"/>
          </a:xfrm>
        </p:spPr>
        <p:txBody>
          <a:bodyPr/>
          <a:lstStyle/>
          <a:p>
            <a:pPr algn="ctr"/>
            <a:r>
              <a:rPr lang="en-GB" dirty="0" smtClean="0">
                <a:solidFill>
                  <a:schemeClr val="bg1"/>
                </a:solidFill>
              </a:rPr>
              <a:t>                      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66143" y="1720516"/>
            <a:ext cx="6521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endParaRPr lang="en-GB" dirty="0" smtClean="0">
              <a:solidFill>
                <a:schemeClr val="bg1"/>
              </a:solidFill>
            </a:endParaRPr>
          </a:p>
          <a:p>
            <a:r>
              <a:rPr lang="en-GB" dirty="0"/>
              <a:t> </a:t>
            </a:r>
            <a:r>
              <a:rPr lang="en-GB" dirty="0" smtClean="0"/>
              <a:t>                                          </a:t>
            </a:r>
            <a:endParaRPr lang="en-GB" dirty="0"/>
          </a:p>
        </p:txBody>
      </p:sp>
      <p:pic>
        <p:nvPicPr>
          <p:cNvPr id="2050" name="Picture 2" descr="Image result for ne 55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568" y="1564105"/>
            <a:ext cx="8621045" cy="497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570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890338"/>
            <a:ext cx="8825658" cy="433136"/>
          </a:xfrm>
        </p:spPr>
        <p:txBody>
          <a:bodyPr/>
          <a:lstStyle/>
          <a:p>
            <a:pPr algn="ctr"/>
            <a:r>
              <a:rPr lang="en-GB" sz="2800" b="1" dirty="0" smtClean="0"/>
              <a:t>CIRCUIT CONNECTON</a:t>
            </a:r>
            <a:endParaRPr lang="en-GB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077326" y="2182652"/>
            <a:ext cx="6521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endParaRPr lang="en-GB" dirty="0" smtClean="0">
              <a:solidFill>
                <a:schemeClr val="bg1"/>
              </a:solidFill>
            </a:endParaRPr>
          </a:p>
          <a:p>
            <a:r>
              <a:rPr lang="en-GB" dirty="0"/>
              <a:t> </a:t>
            </a:r>
            <a:r>
              <a:rPr lang="en-GB" dirty="0" smtClean="0"/>
              <a:t>                                          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69232" y="5320743"/>
            <a:ext cx="9613231" cy="98380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bg1"/>
                </a:solidFill>
              </a:rPr>
              <a:t>T</a:t>
            </a:r>
            <a:r>
              <a:rPr lang="en-GB" cap="none" dirty="0" smtClean="0">
                <a:solidFill>
                  <a:schemeClr val="bg1"/>
                </a:solidFill>
              </a:rPr>
              <a:t>he top group will light if the output of the 555 is low.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T</a:t>
            </a:r>
            <a:r>
              <a:rPr lang="en-GB" cap="none" dirty="0">
                <a:solidFill>
                  <a:schemeClr val="bg1"/>
                </a:solidFill>
              </a:rPr>
              <a:t>he </a:t>
            </a:r>
            <a:r>
              <a:rPr lang="en-GB" cap="none" dirty="0" smtClean="0">
                <a:solidFill>
                  <a:schemeClr val="bg1"/>
                </a:solidFill>
              </a:rPr>
              <a:t>bottom </a:t>
            </a:r>
            <a:r>
              <a:rPr lang="en-GB" cap="none" dirty="0">
                <a:solidFill>
                  <a:schemeClr val="bg1"/>
                </a:solidFill>
              </a:rPr>
              <a:t>group will light if the output of the 555 is </a:t>
            </a:r>
            <a:r>
              <a:rPr lang="en-GB" cap="none" dirty="0" smtClean="0">
                <a:solidFill>
                  <a:schemeClr val="bg1"/>
                </a:solidFill>
              </a:rPr>
              <a:t>high.</a:t>
            </a:r>
            <a:endParaRPr lang="en-GB" cap="none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cap="none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5" y="1323474"/>
            <a:ext cx="8145378" cy="399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30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6060" y="2408625"/>
            <a:ext cx="8825658" cy="1203158"/>
          </a:xfrm>
        </p:spPr>
        <p:txBody>
          <a:bodyPr/>
          <a:lstStyle/>
          <a:p>
            <a:pPr algn="ctr"/>
            <a:r>
              <a:rPr lang="en-GB" sz="4400" b="1" dirty="0" smtClean="0"/>
              <a:t>THANK YOU FOR YOUR TIME!!!!</a:t>
            </a:r>
            <a:endParaRPr lang="en-GB" sz="4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077326" y="2182652"/>
            <a:ext cx="6521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endParaRPr lang="en-GB" dirty="0" smtClean="0">
              <a:solidFill>
                <a:schemeClr val="bg1"/>
              </a:solidFill>
            </a:endParaRPr>
          </a:p>
          <a:p>
            <a:r>
              <a:rPr lang="en-GB" dirty="0"/>
              <a:t> </a:t>
            </a:r>
            <a:r>
              <a:rPr lang="en-GB" dirty="0" smtClean="0"/>
              <a:t>                                          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 flipV="1">
            <a:off x="517358" y="6677525"/>
            <a:ext cx="9613231" cy="67376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GB" cap="none" dirty="0"/>
          </a:p>
        </p:txBody>
      </p:sp>
    </p:spTree>
    <p:extLst>
      <p:ext uri="{BB962C8B-B14F-4D97-AF65-F5344CB8AC3E}">
        <p14:creationId xmlns:p14="http://schemas.microsoft.com/office/powerpoint/2010/main" val="1047534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</TotalTime>
  <Words>271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Wingdings</vt:lpstr>
      <vt:lpstr>Wingdings 3</vt:lpstr>
      <vt:lpstr>Ion Boardroom</vt:lpstr>
      <vt:lpstr>FLASHING LED BIKE LIGHTS</vt:lpstr>
      <vt:lpstr>OUTLINE</vt:lpstr>
      <vt:lpstr>INTRODUCTION</vt:lpstr>
      <vt:lpstr>LIST OF COMPONENTS</vt:lpstr>
      <vt:lpstr>555 TIMER IC</vt:lpstr>
      <vt:lpstr>555 TIMER…….Cont.</vt:lpstr>
      <vt:lpstr>CIRCUIT CONNECTON</vt:lpstr>
      <vt:lpstr>THANK YOU FOR YOUR TIME!!!!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FLASHING LED BIKE LIGHTS</dc:title>
  <dc:creator>Dennis Fleku</dc:creator>
  <cp:lastModifiedBy>Dennis Fleku</cp:lastModifiedBy>
  <cp:revision>17</cp:revision>
  <dcterms:created xsi:type="dcterms:W3CDTF">2016-10-16T13:02:22Z</dcterms:created>
  <dcterms:modified xsi:type="dcterms:W3CDTF">2025-12-14T19:35:07Z</dcterms:modified>
</cp:coreProperties>
</file>